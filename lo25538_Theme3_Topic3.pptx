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5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372A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8"/>
  </p:normalViewPr>
  <p:slideViewPr>
    <p:cSldViewPr snapToGrid="0">
      <p:cViewPr varScale="1">
        <p:scale>
          <a:sx n="115" d="100"/>
          <a:sy n="115" d="100"/>
        </p:scale>
        <p:origin x="6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112D94-4378-4A0C-AB5C-21B28311A5C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3418DE-7D5F-4F14-ACA8-AE9CE0919E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Theoretical Bounds </a:t>
          </a:r>
          <a:r>
            <a:rPr lang="en-US" i="1" dirty="0"/>
            <a:t>(Ben Davide 2010)</a:t>
          </a:r>
          <a:endParaRPr lang="en-US" dirty="0"/>
        </a:p>
      </dgm:t>
    </dgm:pt>
    <dgm:pt modelId="{C18C9760-D244-4212-B973-5E183AFB2192}" type="parTrans" cxnId="{B94CF829-2D48-4A6D-8CF3-0188217E5E3A}">
      <dgm:prSet/>
      <dgm:spPr/>
      <dgm:t>
        <a:bodyPr/>
        <a:lstStyle/>
        <a:p>
          <a:endParaRPr lang="en-US"/>
        </a:p>
      </dgm:t>
    </dgm:pt>
    <dgm:pt modelId="{E5334ED1-885C-4880-B2FE-2FD79C3299C9}" type="sibTrans" cxnId="{B94CF829-2D48-4A6D-8CF3-0188217E5E3A}">
      <dgm:prSet/>
      <dgm:spPr/>
      <dgm:t>
        <a:bodyPr/>
        <a:lstStyle/>
        <a:p>
          <a:endParaRPr lang="en-US"/>
        </a:p>
      </dgm:t>
    </dgm:pt>
    <dgm:pt modelId="{4F062EA7-92F3-4B7E-A600-7E2811461D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Pitfall Checklist </a:t>
          </a:r>
          <a:r>
            <a:rPr lang="en-US" i="1" dirty="0"/>
            <a:t>(Whalen 2022)</a:t>
          </a:r>
          <a:endParaRPr lang="en-US" dirty="0"/>
        </a:p>
      </dgm:t>
    </dgm:pt>
    <dgm:pt modelId="{50A08195-D117-4569-A087-2D0BC8A41A6E}" type="parTrans" cxnId="{84EDAF6E-84C5-43B8-AB4E-2297C81D1F39}">
      <dgm:prSet/>
      <dgm:spPr/>
      <dgm:t>
        <a:bodyPr/>
        <a:lstStyle/>
        <a:p>
          <a:endParaRPr lang="en-US"/>
        </a:p>
      </dgm:t>
    </dgm:pt>
    <dgm:pt modelId="{F400E203-2F5E-4144-8FB6-2331DBD86700}" type="sibTrans" cxnId="{84EDAF6E-84C5-43B8-AB4E-2297C81D1F39}">
      <dgm:prSet/>
      <dgm:spPr/>
      <dgm:t>
        <a:bodyPr/>
        <a:lstStyle/>
        <a:p>
          <a:endParaRPr lang="en-US"/>
        </a:p>
      </dgm:t>
    </dgm:pt>
    <dgm:pt modelId="{139001B4-9D63-4F7C-B373-01537A1D5B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Causal Modelling </a:t>
          </a:r>
          <a:r>
            <a:rPr lang="en-US" i="1" dirty="0"/>
            <a:t>(</a:t>
          </a:r>
          <a:r>
            <a:rPr lang="en-US" i="1" dirty="0" err="1"/>
            <a:t>Palvovic</a:t>
          </a:r>
          <a:r>
            <a:rPr lang="en-US" i="1" dirty="0"/>
            <a:t> 2024)</a:t>
          </a:r>
          <a:endParaRPr lang="en-US" dirty="0"/>
        </a:p>
      </dgm:t>
    </dgm:pt>
    <dgm:pt modelId="{F210C369-28EC-43B2-AB4F-D59B07CC221A}" type="parTrans" cxnId="{E5F76F21-1E78-44CC-9BFA-A1E602B0D00C}">
      <dgm:prSet/>
      <dgm:spPr/>
      <dgm:t>
        <a:bodyPr/>
        <a:lstStyle/>
        <a:p>
          <a:endParaRPr lang="en-US"/>
        </a:p>
      </dgm:t>
    </dgm:pt>
    <dgm:pt modelId="{856B30C5-55E1-4D08-9AC2-DC31FDCB3549}" type="sibTrans" cxnId="{E5F76F21-1E78-44CC-9BFA-A1E602B0D00C}">
      <dgm:prSet/>
      <dgm:spPr/>
      <dgm:t>
        <a:bodyPr/>
        <a:lstStyle/>
        <a:p>
          <a:endParaRPr lang="en-US"/>
        </a:p>
      </dgm:t>
    </dgm:pt>
    <dgm:pt modelId="{E775AB1C-E57E-4B9B-B77A-49F4FCB62E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Reporting Standards </a:t>
          </a:r>
          <a:r>
            <a:rPr lang="en-US" i="1"/>
            <a:t>(TRIPOD+AI 2024)</a:t>
          </a:r>
          <a:endParaRPr lang="en-US"/>
        </a:p>
      </dgm:t>
    </dgm:pt>
    <dgm:pt modelId="{09D4CCA0-0FB1-4F0B-AEA9-1E83216C4BB7}" type="parTrans" cxnId="{D46F3AD8-9AC0-4A9D-8125-04480511FB32}">
      <dgm:prSet/>
      <dgm:spPr/>
      <dgm:t>
        <a:bodyPr/>
        <a:lstStyle/>
        <a:p>
          <a:endParaRPr lang="en-US"/>
        </a:p>
      </dgm:t>
    </dgm:pt>
    <dgm:pt modelId="{25E8ABA3-4DA7-46EB-9C07-3ED543DD1199}" type="sibTrans" cxnId="{D46F3AD8-9AC0-4A9D-8125-04480511FB32}">
      <dgm:prSet/>
      <dgm:spPr/>
      <dgm:t>
        <a:bodyPr/>
        <a:lstStyle/>
        <a:p>
          <a:endParaRPr lang="en-US"/>
        </a:p>
      </dgm:t>
    </dgm:pt>
    <dgm:pt modelId="{D63246D5-65C8-483F-8E6A-FD0E2080509A}" type="pres">
      <dgm:prSet presAssocID="{66112D94-4378-4A0C-AB5C-21B28311A5CB}" presName="root" presStyleCnt="0">
        <dgm:presLayoutVars>
          <dgm:dir/>
          <dgm:resizeHandles val="exact"/>
        </dgm:presLayoutVars>
      </dgm:prSet>
      <dgm:spPr/>
    </dgm:pt>
    <dgm:pt modelId="{B5745BA9-2C41-4D7F-8C56-14BE856D66E5}" type="pres">
      <dgm:prSet presAssocID="{BC3418DE-7D5F-4F14-ACA8-AE9CE0919EB3}" presName="compNode" presStyleCnt="0"/>
      <dgm:spPr/>
    </dgm:pt>
    <dgm:pt modelId="{519DE08C-C856-457D-A876-663B90FE5944}" type="pres">
      <dgm:prSet presAssocID="{BC3418DE-7D5F-4F14-ACA8-AE9CE0919EB3}" presName="bgRect" presStyleLbl="bgShp" presStyleIdx="0" presStyleCnt="4"/>
      <dgm:spPr/>
    </dgm:pt>
    <dgm:pt modelId="{D30E854B-08D2-4BA9-9C33-97C9D95FA273}" type="pres">
      <dgm:prSet presAssocID="{BC3418DE-7D5F-4F14-ACA8-AE9CE0919EB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89060AA-513E-41AA-98B4-9A882F6D3E74}" type="pres">
      <dgm:prSet presAssocID="{BC3418DE-7D5F-4F14-ACA8-AE9CE0919EB3}" presName="spaceRect" presStyleCnt="0"/>
      <dgm:spPr/>
    </dgm:pt>
    <dgm:pt modelId="{55EE7F6F-B8EE-4B7B-95E6-FB645EA87A6E}" type="pres">
      <dgm:prSet presAssocID="{BC3418DE-7D5F-4F14-ACA8-AE9CE0919EB3}" presName="parTx" presStyleLbl="revTx" presStyleIdx="0" presStyleCnt="4">
        <dgm:presLayoutVars>
          <dgm:chMax val="0"/>
          <dgm:chPref val="0"/>
        </dgm:presLayoutVars>
      </dgm:prSet>
      <dgm:spPr/>
    </dgm:pt>
    <dgm:pt modelId="{6913B9ED-1D08-4ED5-A0B6-47021DBF00DC}" type="pres">
      <dgm:prSet presAssocID="{E5334ED1-885C-4880-B2FE-2FD79C3299C9}" presName="sibTrans" presStyleCnt="0"/>
      <dgm:spPr/>
    </dgm:pt>
    <dgm:pt modelId="{66E93C06-5B81-4DE7-BADC-844E5E50EC28}" type="pres">
      <dgm:prSet presAssocID="{4F062EA7-92F3-4B7E-A600-7E2811461D5D}" presName="compNode" presStyleCnt="0"/>
      <dgm:spPr/>
    </dgm:pt>
    <dgm:pt modelId="{540268AA-183D-4194-B4E5-4BE206A1ED45}" type="pres">
      <dgm:prSet presAssocID="{4F062EA7-92F3-4B7E-A600-7E2811461D5D}" presName="bgRect" presStyleLbl="bgShp" presStyleIdx="1" presStyleCnt="4"/>
      <dgm:spPr/>
    </dgm:pt>
    <dgm:pt modelId="{6B582FDA-D2DF-4F20-BAAB-4C716EE65D61}" type="pres">
      <dgm:prSet presAssocID="{4F062EA7-92F3-4B7E-A600-7E2811461D5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E2DB83A6-D816-4588-B30E-E2808EF57E05}" type="pres">
      <dgm:prSet presAssocID="{4F062EA7-92F3-4B7E-A600-7E2811461D5D}" presName="spaceRect" presStyleCnt="0"/>
      <dgm:spPr/>
    </dgm:pt>
    <dgm:pt modelId="{26B871A3-3E21-4268-BF30-32E16A0A8BAF}" type="pres">
      <dgm:prSet presAssocID="{4F062EA7-92F3-4B7E-A600-7E2811461D5D}" presName="parTx" presStyleLbl="revTx" presStyleIdx="1" presStyleCnt="4">
        <dgm:presLayoutVars>
          <dgm:chMax val="0"/>
          <dgm:chPref val="0"/>
        </dgm:presLayoutVars>
      </dgm:prSet>
      <dgm:spPr/>
    </dgm:pt>
    <dgm:pt modelId="{E49B6B97-4ADF-4148-927E-10CF6AE93508}" type="pres">
      <dgm:prSet presAssocID="{F400E203-2F5E-4144-8FB6-2331DBD86700}" presName="sibTrans" presStyleCnt="0"/>
      <dgm:spPr/>
    </dgm:pt>
    <dgm:pt modelId="{2B91E6A6-11FE-43CF-BB04-EEEB4AA6FBDE}" type="pres">
      <dgm:prSet presAssocID="{139001B4-9D63-4F7C-B373-01537A1D5BA9}" presName="compNode" presStyleCnt="0"/>
      <dgm:spPr/>
    </dgm:pt>
    <dgm:pt modelId="{EED882B3-4067-4B2A-A30A-6C1B283835AF}" type="pres">
      <dgm:prSet presAssocID="{139001B4-9D63-4F7C-B373-01537A1D5BA9}" presName="bgRect" presStyleLbl="bgShp" presStyleIdx="2" presStyleCnt="4"/>
      <dgm:spPr/>
    </dgm:pt>
    <dgm:pt modelId="{45E6B6B9-F717-4E94-A2F7-311E2C3B7514}" type="pres">
      <dgm:prSet presAssocID="{139001B4-9D63-4F7C-B373-01537A1D5BA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DFCE4D56-72E1-4796-9E54-0E0B21F87632}" type="pres">
      <dgm:prSet presAssocID="{139001B4-9D63-4F7C-B373-01537A1D5BA9}" presName="spaceRect" presStyleCnt="0"/>
      <dgm:spPr/>
    </dgm:pt>
    <dgm:pt modelId="{A1074C6F-2384-44D0-A6AD-F84470FAD6D1}" type="pres">
      <dgm:prSet presAssocID="{139001B4-9D63-4F7C-B373-01537A1D5BA9}" presName="parTx" presStyleLbl="revTx" presStyleIdx="2" presStyleCnt="4">
        <dgm:presLayoutVars>
          <dgm:chMax val="0"/>
          <dgm:chPref val="0"/>
        </dgm:presLayoutVars>
      </dgm:prSet>
      <dgm:spPr/>
    </dgm:pt>
    <dgm:pt modelId="{EB709F1B-4AC6-438D-8B92-4C4FC0D57546}" type="pres">
      <dgm:prSet presAssocID="{856B30C5-55E1-4D08-9AC2-DC31FDCB3549}" presName="sibTrans" presStyleCnt="0"/>
      <dgm:spPr/>
    </dgm:pt>
    <dgm:pt modelId="{9C08FDE4-1AF8-4C96-A8B2-B3474F41D73A}" type="pres">
      <dgm:prSet presAssocID="{E775AB1C-E57E-4B9B-B77A-49F4FCB62E8E}" presName="compNode" presStyleCnt="0"/>
      <dgm:spPr/>
    </dgm:pt>
    <dgm:pt modelId="{975D89C1-CBE0-4499-8EDB-0C771E4783FB}" type="pres">
      <dgm:prSet presAssocID="{E775AB1C-E57E-4B9B-B77A-49F4FCB62E8E}" presName="bgRect" presStyleLbl="bgShp" presStyleIdx="3" presStyleCnt="4"/>
      <dgm:spPr/>
    </dgm:pt>
    <dgm:pt modelId="{91BB7F40-5764-4970-89D0-B12A621DBAD8}" type="pres">
      <dgm:prSet presAssocID="{E775AB1C-E57E-4B9B-B77A-49F4FCB62E8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2CF8A6E-F8F9-4833-B7D1-0C4D40EBE891}" type="pres">
      <dgm:prSet presAssocID="{E775AB1C-E57E-4B9B-B77A-49F4FCB62E8E}" presName="spaceRect" presStyleCnt="0"/>
      <dgm:spPr/>
    </dgm:pt>
    <dgm:pt modelId="{84026AEF-51F8-48C1-B2B1-3763BC339C33}" type="pres">
      <dgm:prSet presAssocID="{E775AB1C-E57E-4B9B-B77A-49F4FCB62E8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5F76F21-1E78-44CC-9BFA-A1E602B0D00C}" srcId="{66112D94-4378-4A0C-AB5C-21B28311A5CB}" destId="{139001B4-9D63-4F7C-B373-01537A1D5BA9}" srcOrd="2" destOrd="0" parTransId="{F210C369-28EC-43B2-AB4F-D59B07CC221A}" sibTransId="{856B30C5-55E1-4D08-9AC2-DC31FDCB3549}"/>
    <dgm:cxn modelId="{B94CF829-2D48-4A6D-8CF3-0188217E5E3A}" srcId="{66112D94-4378-4A0C-AB5C-21B28311A5CB}" destId="{BC3418DE-7D5F-4F14-ACA8-AE9CE0919EB3}" srcOrd="0" destOrd="0" parTransId="{C18C9760-D244-4212-B973-5E183AFB2192}" sibTransId="{E5334ED1-885C-4880-B2FE-2FD79C3299C9}"/>
    <dgm:cxn modelId="{1EE06F5E-E95C-2D48-B9A8-54F23244F056}" type="presOf" srcId="{66112D94-4378-4A0C-AB5C-21B28311A5CB}" destId="{D63246D5-65C8-483F-8E6A-FD0E2080509A}" srcOrd="0" destOrd="0" presId="urn:microsoft.com/office/officeart/2018/2/layout/IconVerticalSolidList"/>
    <dgm:cxn modelId="{FAB5D964-242E-914E-B7B5-45ADBE693F6B}" type="presOf" srcId="{BC3418DE-7D5F-4F14-ACA8-AE9CE0919EB3}" destId="{55EE7F6F-B8EE-4B7B-95E6-FB645EA87A6E}" srcOrd="0" destOrd="0" presId="urn:microsoft.com/office/officeart/2018/2/layout/IconVerticalSolidList"/>
    <dgm:cxn modelId="{84EDAF6E-84C5-43B8-AB4E-2297C81D1F39}" srcId="{66112D94-4378-4A0C-AB5C-21B28311A5CB}" destId="{4F062EA7-92F3-4B7E-A600-7E2811461D5D}" srcOrd="1" destOrd="0" parTransId="{50A08195-D117-4569-A087-2D0BC8A41A6E}" sibTransId="{F400E203-2F5E-4144-8FB6-2331DBD86700}"/>
    <dgm:cxn modelId="{4A629D6F-72A8-9342-BA8B-E9EA0BE61145}" type="presOf" srcId="{4F062EA7-92F3-4B7E-A600-7E2811461D5D}" destId="{26B871A3-3E21-4268-BF30-32E16A0A8BAF}" srcOrd="0" destOrd="0" presId="urn:microsoft.com/office/officeart/2018/2/layout/IconVerticalSolidList"/>
    <dgm:cxn modelId="{6700CF9F-E197-9448-8807-0C2F818E6DAC}" type="presOf" srcId="{139001B4-9D63-4F7C-B373-01537A1D5BA9}" destId="{A1074C6F-2384-44D0-A6AD-F84470FAD6D1}" srcOrd="0" destOrd="0" presId="urn:microsoft.com/office/officeart/2018/2/layout/IconVerticalSolidList"/>
    <dgm:cxn modelId="{D46F3AD8-9AC0-4A9D-8125-04480511FB32}" srcId="{66112D94-4378-4A0C-AB5C-21B28311A5CB}" destId="{E775AB1C-E57E-4B9B-B77A-49F4FCB62E8E}" srcOrd="3" destOrd="0" parTransId="{09D4CCA0-0FB1-4F0B-AEA9-1E83216C4BB7}" sibTransId="{25E8ABA3-4DA7-46EB-9C07-3ED543DD1199}"/>
    <dgm:cxn modelId="{0BABB2DF-CB2A-B14C-B34E-1A30C6BFE147}" type="presOf" srcId="{E775AB1C-E57E-4B9B-B77A-49F4FCB62E8E}" destId="{84026AEF-51F8-48C1-B2B1-3763BC339C33}" srcOrd="0" destOrd="0" presId="urn:microsoft.com/office/officeart/2018/2/layout/IconVerticalSolidList"/>
    <dgm:cxn modelId="{F76C61C6-CA6C-5849-9289-30AB8667A959}" type="presParOf" srcId="{D63246D5-65C8-483F-8E6A-FD0E2080509A}" destId="{B5745BA9-2C41-4D7F-8C56-14BE856D66E5}" srcOrd="0" destOrd="0" presId="urn:microsoft.com/office/officeart/2018/2/layout/IconVerticalSolidList"/>
    <dgm:cxn modelId="{215B6DE6-AA17-584B-9737-61451172FFB7}" type="presParOf" srcId="{B5745BA9-2C41-4D7F-8C56-14BE856D66E5}" destId="{519DE08C-C856-457D-A876-663B90FE5944}" srcOrd="0" destOrd="0" presId="urn:microsoft.com/office/officeart/2018/2/layout/IconVerticalSolidList"/>
    <dgm:cxn modelId="{2A4E1601-492F-634B-8125-825E7345028D}" type="presParOf" srcId="{B5745BA9-2C41-4D7F-8C56-14BE856D66E5}" destId="{D30E854B-08D2-4BA9-9C33-97C9D95FA273}" srcOrd="1" destOrd="0" presId="urn:microsoft.com/office/officeart/2018/2/layout/IconVerticalSolidList"/>
    <dgm:cxn modelId="{44941499-5E24-EA41-96B1-DE2AA34864CD}" type="presParOf" srcId="{B5745BA9-2C41-4D7F-8C56-14BE856D66E5}" destId="{F89060AA-513E-41AA-98B4-9A882F6D3E74}" srcOrd="2" destOrd="0" presId="urn:microsoft.com/office/officeart/2018/2/layout/IconVerticalSolidList"/>
    <dgm:cxn modelId="{9C9608A6-B233-9240-B457-CBC340FD4E80}" type="presParOf" srcId="{B5745BA9-2C41-4D7F-8C56-14BE856D66E5}" destId="{55EE7F6F-B8EE-4B7B-95E6-FB645EA87A6E}" srcOrd="3" destOrd="0" presId="urn:microsoft.com/office/officeart/2018/2/layout/IconVerticalSolidList"/>
    <dgm:cxn modelId="{C08572DC-8257-9949-BB4A-09F64A4A28B9}" type="presParOf" srcId="{D63246D5-65C8-483F-8E6A-FD0E2080509A}" destId="{6913B9ED-1D08-4ED5-A0B6-47021DBF00DC}" srcOrd="1" destOrd="0" presId="urn:microsoft.com/office/officeart/2018/2/layout/IconVerticalSolidList"/>
    <dgm:cxn modelId="{7E633A45-CF33-7A4A-B10B-FA48E8AB6FE2}" type="presParOf" srcId="{D63246D5-65C8-483F-8E6A-FD0E2080509A}" destId="{66E93C06-5B81-4DE7-BADC-844E5E50EC28}" srcOrd="2" destOrd="0" presId="urn:microsoft.com/office/officeart/2018/2/layout/IconVerticalSolidList"/>
    <dgm:cxn modelId="{D033B838-A951-8F40-93B1-F2B78FCEC35C}" type="presParOf" srcId="{66E93C06-5B81-4DE7-BADC-844E5E50EC28}" destId="{540268AA-183D-4194-B4E5-4BE206A1ED45}" srcOrd="0" destOrd="0" presId="urn:microsoft.com/office/officeart/2018/2/layout/IconVerticalSolidList"/>
    <dgm:cxn modelId="{A1BDCEE2-E227-EB43-ADD1-F09B9E954B03}" type="presParOf" srcId="{66E93C06-5B81-4DE7-BADC-844E5E50EC28}" destId="{6B582FDA-D2DF-4F20-BAAB-4C716EE65D61}" srcOrd="1" destOrd="0" presId="urn:microsoft.com/office/officeart/2018/2/layout/IconVerticalSolidList"/>
    <dgm:cxn modelId="{F24929D2-1913-6C41-96C1-0F2D5EEDFF54}" type="presParOf" srcId="{66E93C06-5B81-4DE7-BADC-844E5E50EC28}" destId="{E2DB83A6-D816-4588-B30E-E2808EF57E05}" srcOrd="2" destOrd="0" presId="urn:microsoft.com/office/officeart/2018/2/layout/IconVerticalSolidList"/>
    <dgm:cxn modelId="{37AA35C8-3515-474D-9BCA-E5ADF5BBFD14}" type="presParOf" srcId="{66E93C06-5B81-4DE7-BADC-844E5E50EC28}" destId="{26B871A3-3E21-4268-BF30-32E16A0A8BAF}" srcOrd="3" destOrd="0" presId="urn:microsoft.com/office/officeart/2018/2/layout/IconVerticalSolidList"/>
    <dgm:cxn modelId="{94C2723C-274B-4941-9C00-CFD8C95388FB}" type="presParOf" srcId="{D63246D5-65C8-483F-8E6A-FD0E2080509A}" destId="{E49B6B97-4ADF-4148-927E-10CF6AE93508}" srcOrd="3" destOrd="0" presId="urn:microsoft.com/office/officeart/2018/2/layout/IconVerticalSolidList"/>
    <dgm:cxn modelId="{77AD9398-733B-5D46-8C96-03FEF761AF78}" type="presParOf" srcId="{D63246D5-65C8-483F-8E6A-FD0E2080509A}" destId="{2B91E6A6-11FE-43CF-BB04-EEEB4AA6FBDE}" srcOrd="4" destOrd="0" presId="urn:microsoft.com/office/officeart/2018/2/layout/IconVerticalSolidList"/>
    <dgm:cxn modelId="{DF2FC044-5A55-5446-8D13-25EED9000578}" type="presParOf" srcId="{2B91E6A6-11FE-43CF-BB04-EEEB4AA6FBDE}" destId="{EED882B3-4067-4B2A-A30A-6C1B283835AF}" srcOrd="0" destOrd="0" presId="urn:microsoft.com/office/officeart/2018/2/layout/IconVerticalSolidList"/>
    <dgm:cxn modelId="{4C00DF55-0B23-D44E-ACE3-6C9E68129C0D}" type="presParOf" srcId="{2B91E6A6-11FE-43CF-BB04-EEEB4AA6FBDE}" destId="{45E6B6B9-F717-4E94-A2F7-311E2C3B7514}" srcOrd="1" destOrd="0" presId="urn:microsoft.com/office/officeart/2018/2/layout/IconVerticalSolidList"/>
    <dgm:cxn modelId="{E81E241F-2750-F54F-AE24-2B0ED6ECC4CC}" type="presParOf" srcId="{2B91E6A6-11FE-43CF-BB04-EEEB4AA6FBDE}" destId="{DFCE4D56-72E1-4796-9E54-0E0B21F87632}" srcOrd="2" destOrd="0" presId="urn:microsoft.com/office/officeart/2018/2/layout/IconVerticalSolidList"/>
    <dgm:cxn modelId="{0DE92116-523C-DE4E-8370-95CC49709DB7}" type="presParOf" srcId="{2B91E6A6-11FE-43CF-BB04-EEEB4AA6FBDE}" destId="{A1074C6F-2384-44D0-A6AD-F84470FAD6D1}" srcOrd="3" destOrd="0" presId="urn:microsoft.com/office/officeart/2018/2/layout/IconVerticalSolidList"/>
    <dgm:cxn modelId="{86767B08-526F-5C41-9BEA-7F44681185B3}" type="presParOf" srcId="{D63246D5-65C8-483F-8E6A-FD0E2080509A}" destId="{EB709F1B-4AC6-438D-8B92-4C4FC0D57546}" srcOrd="5" destOrd="0" presId="urn:microsoft.com/office/officeart/2018/2/layout/IconVerticalSolidList"/>
    <dgm:cxn modelId="{099E9E62-8EBC-904D-A32A-1AC8745C8AA9}" type="presParOf" srcId="{D63246D5-65C8-483F-8E6A-FD0E2080509A}" destId="{9C08FDE4-1AF8-4C96-A8B2-B3474F41D73A}" srcOrd="6" destOrd="0" presId="urn:microsoft.com/office/officeart/2018/2/layout/IconVerticalSolidList"/>
    <dgm:cxn modelId="{FB30ECC7-8C33-9249-8803-BDA3B981BFE8}" type="presParOf" srcId="{9C08FDE4-1AF8-4C96-A8B2-B3474F41D73A}" destId="{975D89C1-CBE0-4499-8EDB-0C771E4783FB}" srcOrd="0" destOrd="0" presId="urn:microsoft.com/office/officeart/2018/2/layout/IconVerticalSolidList"/>
    <dgm:cxn modelId="{465CA9D9-85A9-DB47-B783-87B4628E13B4}" type="presParOf" srcId="{9C08FDE4-1AF8-4C96-A8B2-B3474F41D73A}" destId="{91BB7F40-5764-4970-89D0-B12A621DBAD8}" srcOrd="1" destOrd="0" presId="urn:microsoft.com/office/officeart/2018/2/layout/IconVerticalSolidList"/>
    <dgm:cxn modelId="{639BC84E-E5D6-344D-ADAA-8766D441528F}" type="presParOf" srcId="{9C08FDE4-1AF8-4C96-A8B2-B3474F41D73A}" destId="{B2CF8A6E-F8F9-4833-B7D1-0C4D40EBE891}" srcOrd="2" destOrd="0" presId="urn:microsoft.com/office/officeart/2018/2/layout/IconVerticalSolidList"/>
    <dgm:cxn modelId="{EEF8515C-CE1F-1E42-9B2D-03D32C479304}" type="presParOf" srcId="{9C08FDE4-1AF8-4C96-A8B2-B3474F41D73A}" destId="{84026AEF-51F8-48C1-B2B1-3763BC339C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9DE08C-C856-457D-A876-663B90FE5944}">
      <dsp:nvSpPr>
        <dsp:cNvPr id="0" name=""/>
        <dsp:cNvSpPr/>
      </dsp:nvSpPr>
      <dsp:spPr>
        <a:xfrm>
          <a:off x="0" y="1529"/>
          <a:ext cx="5157787" cy="7750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0E854B-08D2-4BA9-9C33-97C9D95FA273}">
      <dsp:nvSpPr>
        <dsp:cNvPr id="0" name=""/>
        <dsp:cNvSpPr/>
      </dsp:nvSpPr>
      <dsp:spPr>
        <a:xfrm>
          <a:off x="234455" y="175917"/>
          <a:ext cx="426282" cy="4262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EE7F6F-B8EE-4B7B-95E6-FB645EA87A6E}">
      <dsp:nvSpPr>
        <dsp:cNvPr id="0" name=""/>
        <dsp:cNvSpPr/>
      </dsp:nvSpPr>
      <dsp:spPr>
        <a:xfrm>
          <a:off x="895192" y="1529"/>
          <a:ext cx="4262594" cy="775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27" tIns="82027" rIns="82027" bIns="8202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Theoretical Bounds </a:t>
          </a:r>
          <a:r>
            <a:rPr lang="en-US" sz="1900" i="1" kern="1200" dirty="0"/>
            <a:t>(Ben Davide 2010)</a:t>
          </a:r>
          <a:endParaRPr lang="en-US" sz="1900" kern="1200" dirty="0"/>
        </a:p>
      </dsp:txBody>
      <dsp:txXfrm>
        <a:off x="895192" y="1529"/>
        <a:ext cx="4262594" cy="775058"/>
      </dsp:txXfrm>
    </dsp:sp>
    <dsp:sp modelId="{540268AA-183D-4194-B4E5-4BE206A1ED45}">
      <dsp:nvSpPr>
        <dsp:cNvPr id="0" name=""/>
        <dsp:cNvSpPr/>
      </dsp:nvSpPr>
      <dsp:spPr>
        <a:xfrm>
          <a:off x="0" y="970352"/>
          <a:ext cx="5157787" cy="7750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582FDA-D2DF-4F20-BAAB-4C716EE65D61}">
      <dsp:nvSpPr>
        <dsp:cNvPr id="0" name=""/>
        <dsp:cNvSpPr/>
      </dsp:nvSpPr>
      <dsp:spPr>
        <a:xfrm>
          <a:off x="234455" y="1144741"/>
          <a:ext cx="426282" cy="4262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B871A3-3E21-4268-BF30-32E16A0A8BAF}">
      <dsp:nvSpPr>
        <dsp:cNvPr id="0" name=""/>
        <dsp:cNvSpPr/>
      </dsp:nvSpPr>
      <dsp:spPr>
        <a:xfrm>
          <a:off x="895192" y="970352"/>
          <a:ext cx="4262594" cy="775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27" tIns="82027" rIns="82027" bIns="8202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Pitfall Checklist </a:t>
          </a:r>
          <a:r>
            <a:rPr lang="en-US" sz="1900" i="1" kern="1200" dirty="0"/>
            <a:t>(Whalen 2022)</a:t>
          </a:r>
          <a:endParaRPr lang="en-US" sz="1900" kern="1200" dirty="0"/>
        </a:p>
      </dsp:txBody>
      <dsp:txXfrm>
        <a:off x="895192" y="970352"/>
        <a:ext cx="4262594" cy="775058"/>
      </dsp:txXfrm>
    </dsp:sp>
    <dsp:sp modelId="{EED882B3-4067-4B2A-A30A-6C1B283835AF}">
      <dsp:nvSpPr>
        <dsp:cNvPr id="0" name=""/>
        <dsp:cNvSpPr/>
      </dsp:nvSpPr>
      <dsp:spPr>
        <a:xfrm>
          <a:off x="0" y="1939176"/>
          <a:ext cx="5157787" cy="7750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E6B6B9-F717-4E94-A2F7-311E2C3B7514}">
      <dsp:nvSpPr>
        <dsp:cNvPr id="0" name=""/>
        <dsp:cNvSpPr/>
      </dsp:nvSpPr>
      <dsp:spPr>
        <a:xfrm>
          <a:off x="234455" y="2113564"/>
          <a:ext cx="426282" cy="4262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074C6F-2384-44D0-A6AD-F84470FAD6D1}">
      <dsp:nvSpPr>
        <dsp:cNvPr id="0" name=""/>
        <dsp:cNvSpPr/>
      </dsp:nvSpPr>
      <dsp:spPr>
        <a:xfrm>
          <a:off x="895192" y="1939176"/>
          <a:ext cx="4262594" cy="775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27" tIns="82027" rIns="82027" bIns="8202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Causal Modelling </a:t>
          </a:r>
          <a:r>
            <a:rPr lang="en-US" sz="1900" i="1" kern="1200" dirty="0"/>
            <a:t>(</a:t>
          </a:r>
          <a:r>
            <a:rPr lang="en-US" sz="1900" i="1" kern="1200" dirty="0" err="1"/>
            <a:t>Palvovic</a:t>
          </a:r>
          <a:r>
            <a:rPr lang="en-US" sz="1900" i="1" kern="1200" dirty="0"/>
            <a:t> 2024)</a:t>
          </a:r>
          <a:endParaRPr lang="en-US" sz="1900" kern="1200" dirty="0"/>
        </a:p>
      </dsp:txBody>
      <dsp:txXfrm>
        <a:off x="895192" y="1939176"/>
        <a:ext cx="4262594" cy="775058"/>
      </dsp:txXfrm>
    </dsp:sp>
    <dsp:sp modelId="{975D89C1-CBE0-4499-8EDB-0C771E4783FB}">
      <dsp:nvSpPr>
        <dsp:cNvPr id="0" name=""/>
        <dsp:cNvSpPr/>
      </dsp:nvSpPr>
      <dsp:spPr>
        <a:xfrm>
          <a:off x="0" y="2907999"/>
          <a:ext cx="5157787" cy="7750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BB7F40-5764-4970-89D0-B12A621DBAD8}">
      <dsp:nvSpPr>
        <dsp:cNvPr id="0" name=""/>
        <dsp:cNvSpPr/>
      </dsp:nvSpPr>
      <dsp:spPr>
        <a:xfrm>
          <a:off x="234455" y="3082388"/>
          <a:ext cx="426282" cy="4262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026AEF-51F8-48C1-B2B1-3763BC339C33}">
      <dsp:nvSpPr>
        <dsp:cNvPr id="0" name=""/>
        <dsp:cNvSpPr/>
      </dsp:nvSpPr>
      <dsp:spPr>
        <a:xfrm>
          <a:off x="895192" y="2907999"/>
          <a:ext cx="4262594" cy="775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27" tIns="82027" rIns="82027" bIns="8202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Reporting Standards </a:t>
          </a:r>
          <a:r>
            <a:rPr lang="en-US" sz="1900" i="1" kern="1200"/>
            <a:t>(TRIPOD+AI 2024)</a:t>
          </a:r>
          <a:endParaRPr lang="en-US" sz="1900" kern="1200"/>
        </a:p>
      </dsp:txBody>
      <dsp:txXfrm>
        <a:off x="895192" y="2907999"/>
        <a:ext cx="4262594" cy="7750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A8F0A7-B3EF-669C-BCD3-BE97E4B2DB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SEMTM0045_2025_TB-2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9E066D-C652-BA94-0A63-459A9270F59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654E3-7C0D-4044-A2AA-81F9F5704D1B}" type="datetime1">
              <a:rPr lang="en-IN" smtClean="0"/>
              <a:t>08/05/26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09F25D-CB6B-6B27-51CF-60EC12E7D0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E25A96-C82A-52CB-711B-294A146E87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0238B-F698-2340-8CD8-81DB2F921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1386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SEMTM0045_2025_TB-2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7AAC9-E51D-A84B-B413-E7360284D62C}" type="datetime1">
              <a:rPr lang="en-IN" smtClean="0"/>
              <a:t>08/05/26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FACA1-5BE4-2F44-B275-5C678967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01241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457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359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96E93-72AA-4E49-BB76-887117D68054}" type="datetime1">
              <a:rPr lang="en-IN" smtClean="0"/>
              <a:t>08/05/26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SEMTM0045_2025_TB-2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F13C-69F4-FA4F-A9AA-A18A91A1D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08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CAC61-0D6A-3D43-82AD-7B5683E8527E}" type="datetime1">
              <a:rPr lang="en-IN" smtClean="0"/>
              <a:t>08/05/26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SEMTM0045_2025_TB-2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F13C-69F4-FA4F-A9AA-A18A91A1D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12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6C9E0-880E-F742-B9DA-BC75D6A55F5C}" type="datetime1">
              <a:rPr lang="en-IN" smtClean="0"/>
              <a:t>08/05/26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SEMTM0045_2025_TB-2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F13C-69F4-FA4F-A9AA-A18A91A1D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199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F5FC3-8DE9-F94A-A040-FD59E84F1850}" type="datetime1">
              <a:rPr lang="en-IN" smtClean="0"/>
              <a:t>08/05/26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SEMTM0045_2025_TB-2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F13C-69F4-FA4F-A9AA-A18A91A1D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52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90CA-182D-5D43-8A42-25AB03AE312A}" type="datetime1">
              <a:rPr lang="en-IN" smtClean="0"/>
              <a:t>08/05/26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SEMTM0045_2025_TB-2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F13C-69F4-FA4F-A9AA-A18A91A1D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700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DAF1-7229-4646-9CEC-375915678C6B}" type="datetime1">
              <a:rPr lang="en-IN" smtClean="0"/>
              <a:t>08/05/26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SEMTM0045_2025_TB-2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F13C-69F4-FA4F-A9AA-A18A91A1D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153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64684-E4A5-734D-B6E7-8611E4C65612}" type="datetime1">
              <a:rPr lang="en-IN" smtClean="0"/>
              <a:t>08/05/26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SEMTM0045_2025_TB-2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F13C-69F4-FA4F-A9AA-A18A91A1D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146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B3264-3F81-5849-A72C-E33B3D273AE4}" type="datetime1">
              <a:rPr lang="en-IN" smtClean="0"/>
              <a:t>08/05/26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SEMTM0045_2025_TB-2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F13C-69F4-FA4F-A9AA-A18A91A1D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625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9911F-311F-6940-B8CD-07386A04408B}" type="datetime1">
              <a:rPr lang="en-IN" smtClean="0"/>
              <a:t>08/05/26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SEMTM0045_2025_TB-2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F13C-69F4-FA4F-A9AA-A18A91A1D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51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A024-76B2-8441-A54C-6D278E666CC1}" type="datetime1">
              <a:rPr lang="en-IN" smtClean="0"/>
              <a:t>08/05/26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SEMTM0045_2025_TB-2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F13C-69F4-FA4F-A9AA-A18A91A1D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67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9C46-671C-AB48-B3CF-57719BBBB079}" type="datetime1">
              <a:rPr lang="en-IN" smtClean="0"/>
              <a:t>08/05/26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SEMTM0045_2025_TB-2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F13C-69F4-FA4F-A9AA-A18A91A1D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62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153AE4-6912-B542-A852-9C27C5C3DA16}" type="datetime1">
              <a:rPr lang="en-IN" smtClean="0"/>
              <a:t>08/05/26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SEMTM0045_2025_TB-2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7F13C-69F4-FA4F-A9AA-A18A91A1D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20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72000"/>
              </a:schemeClr>
            </a:gs>
            <a:gs pos="23000">
              <a:schemeClr val="accent1">
                <a:lumMod val="89000"/>
              </a:schemeClr>
            </a:gs>
            <a:gs pos="69000">
              <a:schemeClr val="accent1">
                <a:lumMod val="75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ubtitle 2">
            <a:extLst>
              <a:ext uri="{FF2B5EF4-FFF2-40B4-BE49-F238E27FC236}">
                <a16:creationId xmlns:a16="http://schemas.microsoft.com/office/drawing/2014/main" id="{41110F15-3E2A-0E51-9C78-F9A2B0C55041}"/>
              </a:ext>
            </a:extLst>
          </p:cNvPr>
          <p:cNvSpPr txBox="1">
            <a:spLocks/>
          </p:cNvSpPr>
          <p:nvPr/>
        </p:nvSpPr>
        <p:spPr>
          <a:xfrm>
            <a:off x="7519642" y="4347363"/>
            <a:ext cx="3163226" cy="3996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0.50 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accuracy on independent trials</a:t>
            </a:r>
          </a:p>
        </p:txBody>
      </p: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B6F84E6B-5A48-022A-0D3C-60E21100BD8D}"/>
              </a:ext>
            </a:extLst>
          </p:cNvPr>
          <p:cNvCxnSpPr>
            <a:cxnSpLocks/>
          </p:cNvCxnSpPr>
          <p:nvPr/>
        </p:nvCxnSpPr>
        <p:spPr>
          <a:xfrm>
            <a:off x="9101255" y="3934816"/>
            <a:ext cx="0" cy="41254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5AD576E-EFE1-54C3-2B3B-6211CE194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673" y="1375360"/>
            <a:ext cx="11523365" cy="734372"/>
          </a:xfrm>
          <a:noFill/>
          <a:ln>
            <a:noFill/>
          </a:ln>
        </p:spPr>
        <p:txBody>
          <a:bodyPr>
            <a:normAutofit fontScale="90000"/>
          </a:bodyPr>
          <a:lstStyle/>
          <a:p>
            <a:pPr algn="l"/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Clinical ML Models Look Accurate </a:t>
            </a:r>
            <a:b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4400" b="1" u="sn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 Are Not</a:t>
            </a:r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FF86C4-4687-5DB7-6F0A-1EA034F03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9642" y="3469248"/>
            <a:ext cx="3163226" cy="46556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0.72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accuracy on original trial 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90538613-8B2D-9ACA-E2D8-2013C3735C9D}"/>
              </a:ext>
            </a:extLst>
          </p:cNvPr>
          <p:cNvSpPr txBox="1"/>
          <p:nvPr/>
        </p:nvSpPr>
        <p:spPr>
          <a:xfrm>
            <a:off x="7519642" y="4832667"/>
            <a:ext cx="31632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same collapse is seen in genomics, immunology, and biomarker research.</a:t>
            </a:r>
          </a:p>
          <a:p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Source: Chekroud et al. Science 2024 - </a:t>
            </a:r>
            <a:r>
              <a:rPr lang="en-I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Illusory generalizability of clinical prediction models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9EC66AEA-39BE-FD25-A5A5-0B85833B3752}"/>
              </a:ext>
            </a:extLst>
          </p:cNvPr>
          <p:cNvSpPr txBox="1"/>
          <p:nvPr/>
        </p:nvSpPr>
        <p:spPr>
          <a:xfrm>
            <a:off x="608673" y="2799771"/>
            <a:ext cx="61331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promise: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Thousands of ML Models are built each year to predict patient outcomes - treatment response, risk of decline.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3BE4374D-5D2F-0939-166A-35FDCE9736A6}"/>
              </a:ext>
            </a:extLst>
          </p:cNvPr>
          <p:cNvSpPr txBox="1"/>
          <p:nvPr/>
        </p:nvSpPr>
        <p:spPr>
          <a:xfrm>
            <a:off x="608673" y="3707004"/>
            <a:ext cx="61331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problem: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Most are tested only on data similar to what they have seen. On new patients, the models fail.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9A51F575-03FA-C6E7-6810-727ACC3D1A86}"/>
              </a:ext>
            </a:extLst>
          </p:cNvPr>
          <p:cNvSpPr txBox="1"/>
          <p:nvPr/>
        </p:nvSpPr>
        <p:spPr>
          <a:xfrm>
            <a:off x="608673" y="4614237"/>
            <a:ext cx="61331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project: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practical pre-deployment diagnostic to predict that failure before a model reaches deployment. 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39E8C59A-0916-04D2-3D2E-451F875335E4}"/>
              </a:ext>
            </a:extLst>
          </p:cNvPr>
          <p:cNvSpPr txBox="1"/>
          <p:nvPr/>
        </p:nvSpPr>
        <p:spPr>
          <a:xfrm>
            <a:off x="7519642" y="3146659"/>
            <a:ext cx="20964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Evidence:</a:t>
            </a:r>
          </a:p>
        </p:txBody>
      </p:sp>
      <p:pic>
        <p:nvPicPr>
          <p:cNvPr id="258" name="Picture 257">
            <a:extLst>
              <a:ext uri="{FF2B5EF4-FFF2-40B4-BE49-F238E27FC236}">
                <a16:creationId xmlns:a16="http://schemas.microsoft.com/office/drawing/2014/main" id="{C5487743-1B4A-1CFC-8B6E-68CE9623ED53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86368" y="261098"/>
            <a:ext cx="1697432" cy="490879"/>
          </a:xfrm>
          <a:prstGeom prst="rect">
            <a:avLst/>
          </a:prstGeom>
        </p:spPr>
      </p:pic>
      <p:sp>
        <p:nvSpPr>
          <p:cNvPr id="264" name="Footer Placeholder 263">
            <a:extLst>
              <a:ext uri="{FF2B5EF4-FFF2-40B4-BE49-F238E27FC236}">
                <a16:creationId xmlns:a16="http://schemas.microsoft.com/office/drawing/2014/main" id="{98D066E0-3943-A1C1-FBE9-6B113D72F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8673" y="6334202"/>
            <a:ext cx="4114800" cy="365125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SEMTM0045_2025_TB-2  | Student ID: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2646395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5" name="Slide Number Placeholder 264">
            <a:extLst>
              <a:ext uri="{FF2B5EF4-FFF2-40B4-BE49-F238E27FC236}">
                <a16:creationId xmlns:a16="http://schemas.microsoft.com/office/drawing/2014/main" id="{79D46BBE-440A-17EE-1C88-85E53121C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F13C-69F4-FA4F-A9AA-A18A91A1D616}" type="slidenum">
              <a:rPr lang="en-US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fld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765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1CA32-8D5B-EF1E-998B-CA45A4F60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134" y="1274657"/>
            <a:ext cx="6432286" cy="421778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Calibri" panose="020F0502020204030204" pitchFamily="34" charset="0"/>
                <a:cs typeface="Calibri" panose="020F0502020204030204" pitchFamily="34" charset="0"/>
              </a:rPr>
              <a:t>What Does the Field Already Know?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3D21A-607F-1632-68FA-46A8F8FAB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433" y="2789036"/>
            <a:ext cx="3375867" cy="1910639"/>
          </a:xfrm>
          <a:solidFill>
            <a:schemeClr val="tx2">
              <a:lumMod val="10000"/>
              <a:lumOff val="90000"/>
            </a:schemeClr>
          </a:solidFill>
        </p:spPr>
        <p:txBody>
          <a:bodyPr>
            <a:norm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Whalen 2022 | Collins (TRIPOD+ AI) 2024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Pitfall checklist and reporting standards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But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Chekrouds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models followed best practices and yet failed.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7E4283E-2F19-AA14-CAAE-17B7AAB75078}"/>
              </a:ext>
            </a:extLst>
          </p:cNvPr>
          <p:cNvSpPr txBox="1">
            <a:spLocks/>
          </p:cNvSpPr>
          <p:nvPr/>
        </p:nvSpPr>
        <p:spPr>
          <a:xfrm>
            <a:off x="4408068" y="2789036"/>
            <a:ext cx="3375866" cy="19106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Ben-David 2010 |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Worheide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2021 | Moris 2021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Theory of shift; divergence metrics (MMD, KL, Wasserstein). Never empirically tested for which best predicts performance drop.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BC927EB-D07B-D475-4CDB-459592703B7D}"/>
              </a:ext>
            </a:extLst>
          </p:cNvPr>
          <p:cNvSpPr txBox="1">
            <a:spLocks/>
          </p:cNvSpPr>
          <p:nvPr/>
        </p:nvSpPr>
        <p:spPr>
          <a:xfrm>
            <a:off x="7971698" y="2794389"/>
            <a:ext cx="3375865" cy="190528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Arjovsky (IRM) 2000 | Pavlovic 2024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Causal graphs and invariant features. Theoretically strong – but require expert drawn graphs or multiple training environments.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93B24B-D4AF-997D-469B-A23E5DB6E7DF}"/>
              </a:ext>
            </a:extLst>
          </p:cNvPr>
          <p:cNvSpPr txBox="1"/>
          <p:nvPr/>
        </p:nvSpPr>
        <p:spPr>
          <a:xfrm>
            <a:off x="652838" y="833813"/>
            <a:ext cx="2404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 I T E R A T U R E    R E V I E 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CA40A8-D240-4F3F-183F-B853B2E689A3}"/>
              </a:ext>
            </a:extLst>
          </p:cNvPr>
          <p:cNvSpPr txBox="1"/>
          <p:nvPr/>
        </p:nvSpPr>
        <p:spPr>
          <a:xfrm>
            <a:off x="844433" y="2243420"/>
            <a:ext cx="337586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01. Methodological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5F931B-3FF7-AD15-5130-7B612A10D96F}"/>
              </a:ext>
            </a:extLst>
          </p:cNvPr>
          <p:cNvSpPr txBox="1"/>
          <p:nvPr/>
        </p:nvSpPr>
        <p:spPr>
          <a:xfrm>
            <a:off x="4408067" y="2243419"/>
            <a:ext cx="33758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02. Data - Distributional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5D0714-062C-B310-2ECE-B31A09EA9196}"/>
              </a:ext>
            </a:extLst>
          </p:cNvPr>
          <p:cNvSpPr txBox="1"/>
          <p:nvPr/>
        </p:nvSpPr>
        <p:spPr>
          <a:xfrm>
            <a:off x="7971698" y="2243419"/>
            <a:ext cx="33758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03. Structural / Causal</a:t>
            </a:r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E4A64AAE-FF61-BCF4-FFDB-613D5271A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4433" y="6356348"/>
            <a:ext cx="4114800" cy="365125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SEMTM0045_2025_TB-2  | Student ID: </a:t>
            </a: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2646395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E94C1526-447D-8091-1804-F4DFB9EFD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4363" y="6356501"/>
            <a:ext cx="2743200" cy="365125"/>
          </a:xfrm>
        </p:spPr>
        <p:txBody>
          <a:bodyPr/>
          <a:lstStyle/>
          <a:p>
            <a:fld id="{8877F13C-69F4-FA4F-A9AA-A18A91A1D616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485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EDB52-635A-1F89-EFBC-FB1858A94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87C9C-4179-AA96-944E-ACD4F4680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386" y="762895"/>
            <a:ext cx="10515600" cy="82391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cs typeface="Calibri" panose="020F0502020204030204" pitchFamily="34" charset="0"/>
              </a:rPr>
              <a:t>What is Missing?</a:t>
            </a:r>
            <a:endParaRPr 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570F16-32BF-995F-31F3-D920A342B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386" y="1586808"/>
            <a:ext cx="5157787" cy="501391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The Field Has</a:t>
            </a:r>
          </a:p>
        </p:txBody>
      </p:sp>
      <p:graphicFrame>
        <p:nvGraphicFramePr>
          <p:cNvPr id="14" name="Content Placeholder 6">
            <a:extLst>
              <a:ext uri="{FF2B5EF4-FFF2-40B4-BE49-F238E27FC236}">
                <a16:creationId xmlns:a16="http://schemas.microsoft.com/office/drawing/2014/main" id="{9E732CAF-672A-D9A2-88BC-585A6ECF300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81416714"/>
              </p:ext>
            </p:extLst>
          </p:nvPr>
        </p:nvGraphicFramePr>
        <p:xfrm>
          <a:off x="762386" y="2251518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9BD396A-4566-7425-C37F-0910E4A9FE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6671" y="1586808"/>
            <a:ext cx="5183188" cy="501391"/>
          </a:xfrm>
          <a:solidFill>
            <a:srgbClr val="C2372A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the Field Lacks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4ACD9D-29C7-84C8-D29D-3F58094D72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6671" y="2251518"/>
            <a:ext cx="5183188" cy="3684588"/>
          </a:xfrm>
          <a:solidFill>
            <a:srgbClr val="FF0000">
              <a:alpha val="10588"/>
            </a:srgb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 pre-deployment risk score.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 practical feature - stability test.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Tools used without experts.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Post - deployment monitoring guidance.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F51348-B61E-BEE4-8343-F46A28FF2EF0}"/>
              </a:ext>
            </a:extLst>
          </p:cNvPr>
          <p:cNvSpPr txBox="1"/>
          <p:nvPr/>
        </p:nvSpPr>
        <p:spPr>
          <a:xfrm>
            <a:off x="762386" y="554971"/>
            <a:ext cx="18453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 E S E A R C H    G A P 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D911EA96-D8C8-1B39-4F93-F8DDC37A6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386" y="6356349"/>
            <a:ext cx="4114800" cy="365125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SEMTM0045_2025_TB-2  | Student ID: </a:t>
            </a: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2646395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CF6860A-C821-CCC8-CD5D-FA25FC1E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659" y="6356349"/>
            <a:ext cx="2743200" cy="365125"/>
          </a:xfrm>
        </p:spPr>
        <p:txBody>
          <a:bodyPr/>
          <a:lstStyle/>
          <a:p>
            <a:fld id="{8877F13C-69F4-FA4F-A9AA-A18A91A1D616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012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9542C-336A-B9E5-1094-1F16E8B31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18740-AB29-8964-DFC3-90F74ECA9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01" y="965871"/>
            <a:ext cx="10515600" cy="455861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Calibri" panose="020F0502020204030204" pitchFamily="34" charset="0"/>
                <a:cs typeface="Calibri" panose="020F0502020204030204" pitchFamily="34" charset="0"/>
              </a:rPr>
              <a:t>The Proposed Pipeline</a:t>
            </a:r>
            <a:endParaRPr lang="en-US" sz="20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8FC45D-F3EA-C2C6-CDD5-58B74B6EB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5437" y="2394273"/>
            <a:ext cx="2862829" cy="423332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Stage 1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E02777B-B290-E22A-C938-284913611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308" y="2836943"/>
            <a:ext cx="2862958" cy="1840287"/>
          </a:xfrm>
          <a:solidFill>
            <a:schemeClr val="tx2">
              <a:lumMod val="10000"/>
              <a:lumOff val="90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Divergence Score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How different are two populations?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B5938E-5F6E-4A3D-CC9D-651200C53E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625330" y="2392800"/>
            <a:ext cx="2929023" cy="426277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6B62DF-F66A-3E51-8FBF-CD32A2C5694F}"/>
              </a:ext>
            </a:extLst>
          </p:cNvPr>
          <p:cNvSpPr txBox="1"/>
          <p:nvPr/>
        </p:nvSpPr>
        <p:spPr>
          <a:xfrm>
            <a:off x="518901" y="581411"/>
            <a:ext cx="4876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 E S E A R C H    Q U E S T I O N    |     M E T H O D S    |    D A T A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8F28B22D-B909-37F2-09AE-C64F1D7D4A03}"/>
              </a:ext>
            </a:extLst>
          </p:cNvPr>
          <p:cNvSpPr txBox="1">
            <a:spLocks/>
          </p:cNvSpPr>
          <p:nvPr/>
        </p:nvSpPr>
        <p:spPr>
          <a:xfrm>
            <a:off x="4621825" y="2837633"/>
            <a:ext cx="2929023" cy="185963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Feature Stability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Which features hold across context?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389FEBBF-5847-FAA1-1843-D7E5CBBB89C7}"/>
              </a:ext>
            </a:extLst>
          </p:cNvPr>
          <p:cNvSpPr txBox="1">
            <a:spLocks/>
          </p:cNvSpPr>
          <p:nvPr/>
        </p:nvSpPr>
        <p:spPr>
          <a:xfrm>
            <a:off x="4621824" y="2430404"/>
            <a:ext cx="2929023" cy="423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C3B2EFEA-0D75-C879-B8CB-B29A5A0CC486}"/>
              </a:ext>
            </a:extLst>
          </p:cNvPr>
          <p:cNvSpPr txBox="1">
            <a:spLocks/>
          </p:cNvSpPr>
          <p:nvPr/>
        </p:nvSpPr>
        <p:spPr>
          <a:xfrm>
            <a:off x="8625200" y="2836944"/>
            <a:ext cx="2929153" cy="184029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Decision Matrix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Combine into a deployment recommendation</a:t>
            </a:r>
          </a:p>
          <a:p>
            <a:pPr marL="0" indent="0" algn="ctr"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Deploy / Monitor / Retrain / Hold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C87DDB-9170-65A5-2A12-C3D310968042}"/>
              </a:ext>
            </a:extLst>
          </p:cNvPr>
          <p:cNvCxnSpPr/>
          <p:nvPr/>
        </p:nvCxnSpPr>
        <p:spPr>
          <a:xfrm>
            <a:off x="3507472" y="3595097"/>
            <a:ext cx="8697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4BA2E96-C306-35AD-6EE5-211467CC34A5}"/>
              </a:ext>
            </a:extLst>
          </p:cNvPr>
          <p:cNvCxnSpPr/>
          <p:nvPr/>
        </p:nvCxnSpPr>
        <p:spPr>
          <a:xfrm>
            <a:off x="7598548" y="3580813"/>
            <a:ext cx="8697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F8CA2C1-ED4D-A6EF-ABAA-AA65B87AEFBC}"/>
              </a:ext>
            </a:extLst>
          </p:cNvPr>
          <p:cNvSpPr txBox="1"/>
          <p:nvPr/>
        </p:nvSpPr>
        <p:spPr>
          <a:xfrm>
            <a:off x="598296" y="1593444"/>
            <a:ext cx="10956058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Can we predict before deployment, how much a model's accuracy will drop on a new patient group – using only the training and target data?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7AF0C6D2-97E6-AEB2-7B79-34FC007BB6D4}"/>
              </a:ext>
            </a:extLst>
          </p:cNvPr>
          <p:cNvSpPr txBox="1">
            <a:spLocks/>
          </p:cNvSpPr>
          <p:nvPr/>
        </p:nvSpPr>
        <p:spPr>
          <a:xfrm rot="16200000">
            <a:off x="295152" y="1866843"/>
            <a:ext cx="646331" cy="8576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FD1F12-890E-85E5-FA3E-1FD1CF5DFDAF}"/>
              </a:ext>
            </a:extLst>
          </p:cNvPr>
          <p:cNvSpPr txBox="1"/>
          <p:nvPr/>
        </p:nvSpPr>
        <p:spPr>
          <a:xfrm>
            <a:off x="598296" y="4979436"/>
            <a:ext cx="10976078" cy="70788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Validation Plan:</a:t>
            </a:r>
            <a:endParaRPr lang="en-US" sz="16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Data: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eICU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– 2,520 patients – 186 US Hospitals – 4 Regions</a:t>
            </a:r>
          </a:p>
          <a:p>
            <a:r>
              <a:rPr lang="en-IN" sz="1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Source: Pollard et al. (2018) - </a:t>
            </a:r>
            <a:r>
              <a:rPr lang="en-IN" sz="12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IN" sz="1200" i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eICU</a:t>
            </a:r>
            <a:r>
              <a:rPr lang="en-IN" sz="12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collaborative research database.</a:t>
            </a:r>
            <a:r>
              <a:rPr lang="en-IN" sz="1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Scientific Data, 5, 180178</a:t>
            </a:r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B2A95233-8801-383E-70BB-53C96392C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5308" y="6396625"/>
            <a:ext cx="4114800" cy="365125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SEMTM0045_2025_TB-2  | Student ID: </a:t>
            </a: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2646395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EBE57408-CBCC-D4DB-7EC8-94B482A1E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11153" y="6396624"/>
            <a:ext cx="2743200" cy="365125"/>
          </a:xfrm>
        </p:spPr>
        <p:txBody>
          <a:bodyPr/>
          <a:lstStyle/>
          <a:p>
            <a:fld id="{8877F13C-69F4-FA4F-A9AA-A18A91A1D616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873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343</TotalTime>
  <Words>478</Words>
  <Application>Microsoft Macintosh PowerPoint</Application>
  <PresentationFormat>Widescreen</PresentationFormat>
  <Paragraphs>68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Clinical ML Models Look Accurate  - But Are Not!</vt:lpstr>
      <vt:lpstr>What Does the Field Already Know?</vt:lpstr>
      <vt:lpstr>What is Missing?</vt:lpstr>
      <vt:lpstr>The Proposed 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Triveni Dhamdhere</dc:creator>
  <cp:lastModifiedBy>Triveni Dhamdhere</cp:lastModifiedBy>
  <cp:revision>8</cp:revision>
  <dcterms:created xsi:type="dcterms:W3CDTF">2026-05-07T20:29:16Z</dcterms:created>
  <dcterms:modified xsi:type="dcterms:W3CDTF">2026-05-08T02:15:48Z</dcterms:modified>
</cp:coreProperties>
</file>